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DM Sans"/>
      <ns0:bold ns1:id="rIdFont17"/>
      <ns0:regular ns1:id="rIdFont18"/>
    </ns0:embeddedFont>
    <ns0:embeddedFont>
      <ns0:font typeface="JetBrains Mono"/>
      <ns0:bold ns1:id="rIdFont19"/>
    </ns0:embeddedFont>
    <ns0:embeddedFont>
      <ns0:font typeface="Space Grotesk"/>
      <ns0:bold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496344a6-62a9-449d-b0ac-65988162adc8.fntdata" /><ns0:Relationship Id="rIdFont18" Type="http://schemas.openxmlformats.org/officeDocument/2006/relationships/font" Target="fonts/3308411f-95b9-41db-9f66-59605506a7b3.fntdata" /><ns0:Relationship Id="rIdFont19" Type="http://schemas.openxmlformats.org/officeDocument/2006/relationships/font" Target="fonts/1d7a69f8-f4d5-4e76-878d-9eb3e9e784a0.fntdata" /><ns0:Relationship Id="rIdFont20" Type="http://schemas.openxmlformats.org/officeDocument/2006/relationships/font" Target="fonts/756a5d6e-bb82-4f38-b3ca-7f963326a64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505200"/>
            <a:ext cx="6858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048250"/>
            <a:ext cx="6832550" cy="1200150"/>
          </a:xfrm>
          <a:prstGeom prst="roundRect">
            <a:avLst>
              <a:gd name="adj" fmla="val 9523"/>
            </a:avLst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23150" y="5048250"/>
            <a:ext cx="3683049" cy="1200150"/>
          </a:xfrm>
          <a:prstGeom prst="roundRect">
            <a:avLst>
              <a:gd name="adj" fmla="val 9523"/>
            </a:avLst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09600"/>
            <a:ext cx="115062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18CF8"/>
                </a:solidFill>
                <a:latin typeface="JetBrains Mono"/>
              </a:rPr>
              <a:t>ACADEMIC PROJECT DEFENSE • M.SC. (IT) SEM III •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90600"/>
            <a:ext cx="9901237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4500" i="0" u="none">
                <a:solidFill>
                  <a:srgbClr val="F8FAFC"/>
                </a:solidFill>
                <a:latin typeface="Space Grotesk"/>
              </a:rPr>
              <a:t>NetSentinel AI Intrusion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47950"/>
            <a:ext cx="8286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94A3B8"/>
                </a:solidFill>
                <a:latin typeface="DM Sans"/>
              </a:rPr>
              <a:t>Next-generation threat telemetry, 41-feature multi-class attack classification, and automated SOC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5276850"/>
            <a:ext cx="826763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18CF8"/>
                </a:solidFill>
                <a:latin typeface="JetBrains Mono"/>
              </a:rPr>
              <a:t>PROJECT AUTHORS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5562600"/>
            <a:ext cx="639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DM Sans"/>
              </a:rPr>
              <a:t>Priyansh Nagar (2505102140025) • Rohit Majhi (2505102140028) • Saksham Pandey (2505102140046)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9850" y="5276850"/>
            <a:ext cx="410214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4D399"/>
                </a:solidFill>
                <a:latin typeface="JetBrains Mono"/>
              </a:rPr>
              <a:t>SUPERVISION &amp; INSTITUTION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9850" y="5562600"/>
            <a:ext cx="32448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DM Sans"/>
              </a:rPr>
              <a:t>Guide: Dr. Chetan Gondaliya • Parul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09787"/>
            <a:ext cx="5314950" cy="3629025"/>
          </a:xfrm>
          <a:prstGeom prst="roundRect">
            <a:avLst>
              <a:gd name="adj" fmla="val 4199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109787"/>
            <a:ext cx="5314950" cy="3629025"/>
          </a:xfrm>
          <a:prstGeom prst="roundRect">
            <a:avLst>
              <a:gd name="adj" fmla="val 4199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JetBrains Mono"/>
              </a:rPr>
              <a:t>01 / PROBLEM STATEMENT &amp;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Why Legacy IDS Solutions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452687"/>
            <a:ext cx="607575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9F1239"/>
                </a:solidFill>
                <a:latin typeface="Space Grotesk"/>
              </a:rPr>
              <a:t>Traditional Signature IDS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0350" y="2452687"/>
            <a:ext cx="55816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65F46"/>
                </a:solidFill>
                <a:latin typeface="Space Grotesk"/>
              </a:rPr>
              <a:t>The NetSentinel AI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976562"/>
            <a:ext cx="47244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Zero-Day Blindness: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Misses novel payloads lacking static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624262"/>
            <a:ext cx="47244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SOC Alert Fatigue: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Exceeds 4,000 daily false-positive alarms.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271962"/>
            <a:ext cx="47244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Signature Latency: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Averages 72 hours for rule updates.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919662"/>
            <a:ext cx="47244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Fragmented Tooling: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Raw PCAP CLI lacks incident triage.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0350" y="2976562"/>
            <a:ext cx="47244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Behavioral ML: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Inspects 41 statistical network flow features.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0350" y="3624262"/>
            <a:ext cx="47244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High Precision: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97.93% precision suppresses false alarms.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0350" y="4271962"/>
            <a:ext cx="47244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Sub-2ms Inference: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Real-time classification on live streams.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0350" y="4919662"/>
            <a:ext cx="47244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DM Sans"/>
              </a:rPr>
              <a:t>Unified SOC Platform:</a:t>
            </a:r>
            <a:r>
              <a:rPr b="0" sz="1425" i="0" u="none">
                <a:solidFill>
                  <a:srgbClr val="1E293B"/>
                </a:solidFill>
                <a:latin typeface="DM Sans"/>
              </a:rPr>
              <a:t> Role-isolated triage and resolution.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14650"/>
            <a:ext cx="2571750" cy="1943100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781300"/>
            <a:ext cx="2571750" cy="2209800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43237"/>
            <a:ext cx="2571750" cy="1685925"/>
          </a:xfrm>
          <a:prstGeom prst="roundRect">
            <a:avLst>
              <a:gd name="adj" fmla="val 7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800350"/>
            <a:ext cx="2571750" cy="217170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19450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08610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0" y="310515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JetBrains Mono"/>
              </a:rPr>
              <a:t>02 / 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Core System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714750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Live Packet Sniffing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095750"/>
            <a:ext cx="2209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Continuous TShark interface packet capture.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3581400"/>
            <a:ext cx="232029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Multi-Class ML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4229100"/>
            <a:ext cx="2209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Six-category behavioral threat classification.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3586162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Batch CSV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967162"/>
            <a:ext cx="2209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Bulk NSL-KDD dataset evaluation export.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0" y="3600450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Async Retraining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981450"/>
            <a:ext cx="2209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Zero-downtime background weight updates.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2275"/>
            <a:ext cx="2378868" cy="1619250"/>
          </a:xfrm>
          <a:prstGeom prst="roundRect">
            <a:avLst>
              <a:gd name="adj" fmla="val 823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4243" y="2962275"/>
            <a:ext cx="2378868" cy="1619250"/>
          </a:xfrm>
          <a:prstGeom prst="roundRect">
            <a:avLst>
              <a:gd name="adj" fmla="val 823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38887" y="2962275"/>
            <a:ext cx="2378868" cy="1619250"/>
          </a:xfrm>
          <a:prstGeom prst="roundRect">
            <a:avLst>
              <a:gd name="adj" fmla="val 823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03531" y="2962275"/>
            <a:ext cx="2378868" cy="1619250"/>
          </a:xfrm>
          <a:prstGeom prst="roundRect">
            <a:avLst>
              <a:gd name="adj" fmla="val 823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868" y="3667125"/>
            <a:ext cx="18097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512" y="3667125"/>
            <a:ext cx="180975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156" y="3667125"/>
            <a:ext cx="18097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JetBrains Mono"/>
              </a:rPr>
              <a:t>03 / 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Four-Tier Modular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1722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Asynchronous background threads isolate model retraining from HTTP worker processes.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228975"/>
            <a:ext cx="244971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F46E5"/>
                </a:solidFill>
                <a:latin typeface="JetBrains Mono"/>
              </a:rPr>
              <a:t>TIER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3495675"/>
            <a:ext cx="257219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Presentation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3857625"/>
            <a:ext cx="20550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Chart.js live telemetry views.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3793" y="3228975"/>
            <a:ext cx="244971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F46E5"/>
                </a:solidFill>
                <a:latin typeface="JetBrains Mono"/>
              </a:rPr>
              <a:t>TIER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3793" y="3495675"/>
            <a:ext cx="257219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Django &amp; RBAC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3793" y="3857625"/>
            <a:ext cx="20550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RoleAccessMiddleware tenant isolation.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8437" y="3228975"/>
            <a:ext cx="244971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59669"/>
                </a:solidFill>
                <a:latin typeface="JetBrains Mono"/>
              </a:rPr>
              <a:t>TIER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8437" y="3495675"/>
            <a:ext cx="257219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ML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8437" y="3857625"/>
            <a:ext cx="20550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Random Forest 41-feature scoring.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3081" y="3228975"/>
            <a:ext cx="244971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JetBrains Mono"/>
              </a:rPr>
              <a:t>TIER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3081" y="3495675"/>
            <a:ext cx="257219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Data &amp; Capture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3081" y="3857625"/>
            <a:ext cx="20550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SQLite3 DB and TShark sniffer.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43100"/>
            <a:ext cx="10972800" cy="38862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943100"/>
          <a:ext cx="10972799" cy="38862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832693"/>
                <a:gridCol w="3317230"/>
                <a:gridCol w="3303835"/>
                <a:gridCol w="3519041"/>
              </a:tblGrid>
              <a:tr h="48577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8FAFC"/>
                          </a:solidFill>
                          <a:latin typeface="JetBrains Mono"/>
                        </a:rPr>
                        <a:t>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DM Sans"/>
                        </a:rPr>
                        <a:t>Subprocess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DM Sans"/>
                        </a:rPr>
                        <a:t>Primary Input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DM Sans"/>
                        </a:rPr>
                        <a:t>Output / Data Store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F46E5"/>
                          </a:solidFill>
                          <a:latin typeface="JetBrains Mono"/>
                        </a:rPr>
                        <a:t>P1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Authentication &amp; RBAC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User credentials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DS-1 User Profiles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F46E5"/>
                          </a:solidFill>
                          <a:latin typeface="JetBrains Mono"/>
                        </a:rPr>
                        <a:t>P2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Live Packet Capture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TShark / Synthetic RNG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Raw packet flows to P4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F46E5"/>
                          </a:solidFill>
                          <a:latin typeface="JetBrains Mono"/>
                        </a:rPr>
                        <a:t>P3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Batch CSV Ingestion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Uploaded CSV dataset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Validated vectors to P4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59669"/>
                          </a:solidFill>
                          <a:latin typeface="JetBrains Mono"/>
                        </a:rPr>
                        <a:t>P4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ML Feature Inference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41-dim feature vector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Class &amp; confidence (DS-5)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F46E5"/>
                          </a:solidFill>
                          <a:latin typeface="JetBrains Mono"/>
                        </a:rPr>
                        <a:t>P5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Alert &amp; Log Persistence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Classified threat records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DS-2 Logs &amp; DS-3 Alerts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F46E5"/>
                          </a:solidFill>
                          <a:latin typeface="JetBrains Mono"/>
                        </a:rPr>
                        <a:t>P6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Model Retraining Worker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Historical logs (DS-2)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Updated weights (DS-5)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F46E5"/>
                          </a:solidFill>
                          <a:latin typeface="JetBrains Mono"/>
                        </a:rPr>
                        <a:t>P7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Telemetry &amp; Reporting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Aggregated querysets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DM Sans"/>
                        </a:rPr>
                        <a:t>SOC charts &amp; scored CSV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JetBrains Mono"/>
              </a:rPr>
              <a:t>04 / DATA FLOW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DFD Level 1 Core Subprocesses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05050"/>
            <a:ext cx="5295900" cy="3200400"/>
          </a:xfrm>
          <a:prstGeom prst="roundRect">
            <a:avLst>
              <a:gd name="adj" fmla="val 47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2128837"/>
            <a:ext cx="5295900" cy="3552825"/>
          </a:xfrm>
          <a:prstGeom prst="roundRect">
            <a:avLst>
              <a:gd name="adj" fmla="val 42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JetBrains Mono"/>
              </a:rPr>
              <a:t>05 / MACHINE LEARNING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41-Feature Random Forest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9850"/>
            <a:ext cx="5857875" cy="876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5400" i="0" u="none">
                <a:solidFill>
                  <a:srgbClr val="4F46E5"/>
                </a:solidFill>
                <a:latin typeface="Space Grotesk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86150"/>
            <a:ext cx="615076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NSL-KDD Flow Attributes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2433637"/>
            <a:ext cx="56007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Why Random Forest Over Deep Nets?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43350"/>
            <a:ext cx="58578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1–9 Basic: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Protocol, service, flag, byte counts.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86250"/>
            <a:ext cx="58578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10–22 Content: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Failed logins, root shell, su flags.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29150"/>
            <a:ext cx="58578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23–31 Time Window: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2-second SYN and REJ error rates.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72050"/>
            <a:ext cx="58578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32–41 Host Window: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100-connection destination ratios.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2957512"/>
            <a:ext cx="47815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Tabular Excellence: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Superior accuracy on mixed discrete features.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300" y="3605212"/>
            <a:ext cx="47815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Colinearity Resistance: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Bagging prevents variance overfitting.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4252912"/>
            <a:ext cx="47815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Gini Interpretability: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Exports transparent JSON feature weights.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4900612"/>
            <a:ext cx="47815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CPU Efficiency: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Sub-2ms execution without GPU hardware.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19312"/>
            <a:ext cx="10972800" cy="35337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119312"/>
          <a:ext cx="10972799" cy="35337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35013"/>
                <a:gridCol w="3545830"/>
                <a:gridCol w="4053929"/>
                <a:gridCol w="1838027"/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DM Sans"/>
                        </a:rPr>
                        <a:t>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DM Sans"/>
                        </a:rPr>
                        <a:t>Real-World Attack Examples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DM Sans"/>
                        </a:rPr>
                        <a:t>Key Behavioral Indicator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8FAFC"/>
                          </a:solidFill>
                          <a:latin typeface="DM Sans"/>
                        </a:rPr>
                        <a:t>Severity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59669"/>
                          </a:solidFill>
                          <a:latin typeface="DM Sans"/>
                        </a:rPr>
                        <a:t>Normal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Web browsing, SSH, DNS queries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High same_srv_rate, SF flag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2563EB"/>
                          </a:solidFill>
                          <a:latin typeface="JetBrains Mono"/>
                        </a:rPr>
                        <a:t>INFO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E11D48"/>
                          </a:solidFill>
                          <a:latin typeface="DM Sans"/>
                        </a:rPr>
                        <a:t>DoS / DDoS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SYN Flood, Smurf, Neptune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High serror_rate, zero dst_bytes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E11D48"/>
                          </a:solidFill>
                          <a:latin typeface="JetBrains Mono"/>
                        </a:rPr>
                        <a:t>CRITICAL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D97706"/>
                          </a:solidFill>
                          <a:latin typeface="DM Sans"/>
                        </a:rPr>
                        <a:t>Probe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Nmap Port Scan, IP Sweep, Satan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Multi-port connections, high rerror_rate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D97706"/>
                          </a:solidFill>
                          <a:latin typeface="JetBrains Mono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D97706"/>
                          </a:solidFill>
                          <a:latin typeface="DM Sans"/>
                        </a:rPr>
                        <a:t>R2L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FTP dictionary, password guessing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Repeated num_failed_logins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D97706"/>
                          </a:solidFill>
                          <a:latin typeface="JetBrains Mono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E11D48"/>
                          </a:solidFill>
                          <a:latin typeface="DM Sans"/>
                        </a:rPr>
                        <a:t>U2R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Buffer overflow, rootkit execution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Elevated root_shell, su_attempted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E11D48"/>
                          </a:solidFill>
                          <a:latin typeface="JetBrains Mono"/>
                        </a:rPr>
                        <a:t>CRITICAL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D97706"/>
                          </a:solidFill>
                          <a:latin typeface="DM Sans"/>
                        </a:rPr>
                        <a:t>Brute Force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DM Sans"/>
                        </a:rPr>
                        <a:t>Automated SSH / HTTP hammering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DM Sans"/>
                        </a:rPr>
                        <a:t>High-velocity single-IP login bursts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D97706"/>
                          </a:solidFill>
                          <a:latin typeface="JetBrains Mono"/>
                        </a:rPr>
                        <a:t>MEDIUM / 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JetBrains Mono"/>
              </a:rPr>
              <a:t>06 / THREAT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Six-Class Intrusion Taxonomy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76562"/>
            <a:ext cx="1447800" cy="2209800"/>
          </a:xfrm>
          <a:prstGeom prst="roundRect">
            <a:avLst>
              <a:gd name="adj" fmla="val 92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3205162"/>
            <a:ext cx="2019300" cy="1752600"/>
          </a:xfrm>
          <a:prstGeom prst="roundRect">
            <a:avLst>
              <a:gd name="adj" fmla="val 76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33900" y="3205162"/>
            <a:ext cx="2362200" cy="1752600"/>
          </a:xfrm>
          <a:prstGeom prst="roundRect">
            <a:avLst>
              <a:gd name="adj" fmla="val 76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24700" y="3205162"/>
            <a:ext cx="2247900" cy="1752600"/>
          </a:xfrm>
          <a:prstGeom prst="roundRect">
            <a:avLst>
              <a:gd name="adj" fmla="val 76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0" y="3205162"/>
            <a:ext cx="2133600" cy="1752600"/>
          </a:xfrm>
          <a:prstGeom prst="roundRect">
            <a:avLst>
              <a:gd name="adj" fmla="val 76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3243262"/>
            <a:ext cx="2381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0" y="3471862"/>
            <a:ext cx="33337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450" y="3471862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3471862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0" y="3471862"/>
            <a:ext cx="333375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JetBrains Mono"/>
              </a:rPr>
              <a:t>07 / RELATIONAL DATABASE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SQLite ORM Schema &amp; Data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257300"/>
            <a:ext cx="115824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475569"/>
                </a:solidFill>
                <a:latin typeface="DM Sans"/>
              </a:rPr>
              <a:t>15-table relational catalog enforcing strict multi-tenant RBAC and historical audit preservation.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3662362"/>
            <a:ext cx="138017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JetBrains Mono"/>
              </a:rPr>
              <a:t>ids_alert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4005262"/>
            <a:ext cx="1123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Incident severity resolution tracking.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5550" y="3890962"/>
            <a:ext cx="210026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JetBrains Mono"/>
              </a:rPr>
              <a:t>ids_trafficlog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5550" y="4233862"/>
            <a:ext cx="1695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High-frequency flow audit storage.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3450" y="3890962"/>
            <a:ext cx="255031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JetBrains Mono"/>
              </a:rPr>
              <a:t>ids_predictionrun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3450" y="4233862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Batch JSON Gini importance logs.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3890962"/>
            <a:ext cx="24003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JetBrains Mono"/>
              </a:rPr>
              <a:t>ids_modelmetrics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4250" y="4233862"/>
            <a:ext cx="1924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Immutable retraining accuracy audit.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0750" y="3890962"/>
            <a:ext cx="225028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JetBrains Mono"/>
              </a:rPr>
              <a:t>ids_userprofile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0750" y="4233862"/>
            <a:ext cx="1809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Strict analyst role access isolation.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JetBrains Mono"/>
              </a:rPr>
              <a:t>08 / EXPERIMENTAL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Benchmark Metrics &amp; Test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181725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JetBrains Mono"/>
              </a:rPr>
              <a:t>VERIFICATION: 10/10 Automated Suite Passed (TC-01 to TC-10) • Latency &lt; 2.0 ms per 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500" y="1462087"/>
            <a:ext cx="4191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818CF8"/>
                </a:solidFill>
                <a:latin typeface="JetBrains Mono"/>
              </a:rPr>
              <a:t>09 / CONCLUSION &amp;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443" y="1804987"/>
            <a:ext cx="8901112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F8FAFC"/>
                </a:solidFill>
                <a:latin typeface="Space Grotesk"/>
              </a:rPr>
              <a:t>Future Roadmap &amp; Open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4437" y="2624137"/>
            <a:ext cx="976312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DM Sans"/>
              </a:rPr>
              <a:t>Upcoming milestones include Bi-LSTM sequence modeling, Splunk/Sentinel SIEM connectors, SHAP explainability, and distributed multi-cloud VPC sensor probes.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9015" y="5167312"/>
            <a:ext cx="88939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DM Sans"/>
              </a:rPr>
              <a:t>Thank You • Priyansh Nagar, Rohit Majhi, Saksham Pandey • Guided by Dr. Chetan Gondaliya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2935" y="3690937"/>
            <a:ext cx="2437804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34D399"/>
                </a:solidFill>
                <a:latin typeface="Space Grotesk"/>
              </a:rPr>
              <a:t>97.67%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10978" y="4329112"/>
            <a:ext cx="23217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CBD5E1"/>
                </a:solidFill>
                <a:latin typeface="DM Sans"/>
              </a:rPr>
              <a:t>Classification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4710" y="3690937"/>
            <a:ext cx="2437804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818CF8"/>
                </a:solidFill>
                <a:latin typeface="Space Grotesk"/>
              </a:rPr>
              <a:t>&lt; 2.0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2753" y="4329112"/>
            <a:ext cx="23217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CBD5E1"/>
                </a:solidFill>
                <a:latin typeface="DM Sans"/>
              </a:rPr>
              <a:t>Inline Inference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114" y="3690937"/>
            <a:ext cx="2575321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BBF24"/>
                </a:solidFill>
                <a:latin typeface="Space Grotesk"/>
              </a:rPr>
              <a:t>10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41431" y="4329112"/>
            <a:ext cx="24526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CBD5E1"/>
                </a:solidFill>
                <a:latin typeface="DM Sans"/>
              </a:rPr>
              <a:t>Automated Tests Passed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